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70" r:id="rId4"/>
    <p:sldId id="263" r:id="rId5"/>
    <p:sldId id="264" r:id="rId6"/>
    <p:sldId id="272" r:id="rId7"/>
    <p:sldId id="268" r:id="rId8"/>
    <p:sldId id="276" r:id="rId9"/>
    <p:sldId id="277" r:id="rId10"/>
    <p:sldId id="282" r:id="rId11"/>
    <p:sldId id="265" r:id="rId12"/>
    <p:sldId id="266" r:id="rId13"/>
    <p:sldId id="267" r:id="rId14"/>
    <p:sldId id="262" r:id="rId15"/>
    <p:sldId id="260" r:id="rId16"/>
    <p:sldId id="261" r:id="rId17"/>
    <p:sldId id="278" r:id="rId18"/>
    <p:sldId id="281" r:id="rId19"/>
    <p:sldId id="280" r:id="rId20"/>
    <p:sldId id="279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3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698D3-589F-0E48-91D7-BA9B6A674B25}" type="datetimeFigureOut">
              <a:rPr lang="en-US" smtClean="0"/>
              <a:t>12/1/17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5370B-0314-2541-8ADB-11B37E24D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84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C633830-2244-49AE-BC4A-47F415C177C6}" type="datetimeFigureOut">
              <a:rPr lang="en-US" dirty="0"/>
              <a:pPr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3C633830-2244-49AE-BC4A-47F415C177C6}" type="datetimeFigureOut">
              <a:rPr lang="en-US" dirty="0"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2AC27A5A-7290-4DE1-BA94-4BE8A8E57DC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C633830-2244-49AE-BC4A-47F415C177C6}" type="datetimeFigureOut">
              <a:rPr lang="en-US" dirty="0"/>
              <a:pPr/>
              <a:t>12/1/17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2AC27A5A-7290-4DE1-BA94-4BE8A8E57DC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83464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4894729"/>
            <a:ext cx="7034362" cy="1349551"/>
          </a:xfrm>
        </p:spPr>
        <p:txBody>
          <a:bodyPr>
            <a:normAutofit/>
          </a:bodyPr>
          <a:lstStyle/>
          <a:p>
            <a:r>
              <a:rPr lang="en-US" dirty="0"/>
              <a:t>Mukund Nuthi</a:t>
            </a:r>
          </a:p>
          <a:p>
            <a:r>
              <a:rPr lang="en-US" dirty="0"/>
              <a:t>Balaram Remala</a:t>
            </a:r>
          </a:p>
          <a:p>
            <a:r>
              <a:rPr lang="en-US" dirty="0" err="1"/>
              <a:t>Pavan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Reddy </a:t>
            </a:r>
            <a:r>
              <a:rPr lang="en-US" dirty="0" err="1"/>
              <a:t>Duggempudi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44996" y="5246338"/>
            <a:ext cx="4066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the </a:t>
            </a:r>
            <a:r>
              <a:rPr lang="en-US" dirty="0" err="1"/>
              <a:t>guidence</a:t>
            </a:r>
            <a:r>
              <a:rPr lang="en-US" dirty="0"/>
              <a:t> of :</a:t>
            </a:r>
          </a:p>
          <a:p>
            <a:r>
              <a:rPr lang="en-US" dirty="0"/>
              <a:t>Dr. </a:t>
            </a:r>
            <a:r>
              <a:rPr lang="en-US" dirty="0" err="1"/>
              <a:t>Somya</a:t>
            </a:r>
            <a:r>
              <a:rPr lang="en-US" dirty="0"/>
              <a:t> </a:t>
            </a:r>
            <a:r>
              <a:rPr lang="en-US" dirty="0" err="1"/>
              <a:t>Mohanty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2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78" y="615434"/>
            <a:ext cx="5670985" cy="793818"/>
          </a:xfrm>
        </p:spPr>
        <p:txBody>
          <a:bodyPr/>
          <a:lstStyle/>
          <a:p>
            <a:r>
              <a:rPr lang="en-US" dirty="0"/>
              <a:t>About 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552" y="2529096"/>
            <a:ext cx="11195822" cy="3423425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Amazon Product Reviews Dataset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The Database and Information Systems Laboratory at The University of Illinois at Urbana-Champaign.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Six categories (camera, mobile, TV, laptop, tablet, and video surveillance system). 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Currently we are working on Mobile, Laptops and Tablets.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Our data is in JSON format and has 1 JSON file for each product.</a:t>
            </a:r>
          </a:p>
        </p:txBody>
      </p:sp>
    </p:spTree>
    <p:extLst>
      <p:ext uri="{BB962C8B-B14F-4D97-AF65-F5344CB8AC3E}">
        <p14:creationId xmlns:p14="http://schemas.microsoft.com/office/powerpoint/2010/main" val="55920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21" y="477159"/>
            <a:ext cx="4658061" cy="803002"/>
          </a:xfrm>
        </p:spPr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336" y="2487929"/>
            <a:ext cx="10342784" cy="3618217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Filtering Null Values.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Conversion of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abbreviations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to full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words.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Conversion of text to lower-case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Filtering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Stop-Words and punctuations in the reviews. </a:t>
            </a: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41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5EABD-0AB5-49B1-A91C-20CDDF72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94" y="366040"/>
            <a:ext cx="8693972" cy="881847"/>
          </a:xfrm>
        </p:spPr>
        <p:txBody>
          <a:bodyPr/>
          <a:lstStyle/>
          <a:p>
            <a:r>
              <a:rPr lang="en-US" dirty="0"/>
              <a:t>Building a Complete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F6E3BF-8DF8-4688-A2A5-ACB8EF95D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75" y="2103854"/>
            <a:ext cx="10951284" cy="3206363"/>
          </a:xfrm>
        </p:spPr>
        <p:txBody>
          <a:bodyPr/>
          <a:lstStyle/>
          <a:p>
            <a:r>
              <a:rPr lang="en-US" dirty="0"/>
              <a:t>A complete dataset was built by combining thousands of JSON files.</a:t>
            </a:r>
          </a:p>
          <a:p>
            <a:r>
              <a:rPr lang="en-US" dirty="0"/>
              <a:t> Using “</a:t>
            </a:r>
            <a:r>
              <a:rPr lang="en-US" dirty="0" err="1"/>
              <a:t>to_pickle</a:t>
            </a:r>
            <a:r>
              <a:rPr lang="en-US" dirty="0"/>
              <a:t>()” function the complete dataset was saved to pandas </a:t>
            </a:r>
            <a:r>
              <a:rPr lang="en-US" dirty="0" err="1"/>
              <a:t>dataframe</a:t>
            </a:r>
            <a:r>
              <a:rPr lang="en-US" dirty="0"/>
              <a:t> for future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6081FC5-CF65-4E79-8A20-96D6D82D1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62" y="3882414"/>
            <a:ext cx="7910245" cy="158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1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02A95-A9E9-490A-BE02-CFE03990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559678"/>
            <a:ext cx="11071413" cy="4952492"/>
          </a:xfrm>
        </p:spPr>
        <p:txBody>
          <a:bodyPr/>
          <a:lstStyle/>
          <a:p>
            <a:pPr algn="l"/>
            <a:r>
              <a:rPr lang="en-US" dirty="0"/>
              <a:t>Cleaning the Text Data by removing stopwords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EC6A9A-D030-4EC3-A561-5A09BCA8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390" y="2376350"/>
            <a:ext cx="10815022" cy="5655156"/>
          </a:xfrm>
        </p:spPr>
        <p:txBody>
          <a:bodyPr/>
          <a:lstStyle/>
          <a:p>
            <a:r>
              <a:rPr lang="en-US" dirty="0"/>
              <a:t>Cleaning the text is the most important part of text analytics. </a:t>
            </a:r>
          </a:p>
          <a:p>
            <a:r>
              <a:rPr lang="en-US" dirty="0"/>
              <a:t>Here is the snapshot of our data after cleaning the stopwords and punctuations. </a:t>
            </a:r>
          </a:p>
          <a:p>
            <a:r>
              <a:rPr lang="en-US" dirty="0"/>
              <a:t>A new column ‘make’ is added, which is extracted from Product name using regex.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8972C91-5A29-4680-BA57-64D7B807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858" y="3902928"/>
            <a:ext cx="6248398" cy="208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79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559678"/>
            <a:ext cx="9530577" cy="1536751"/>
          </a:xfrm>
        </p:spPr>
        <p:txBody>
          <a:bodyPr/>
          <a:lstStyle/>
          <a:p>
            <a:r>
              <a:rPr lang="en-US" dirty="0"/>
              <a:t>Analyzing the Ratings based on Price Range.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449" y="2241395"/>
            <a:ext cx="10069549" cy="3847172"/>
          </a:xfrm>
        </p:spPr>
        <p:txBody>
          <a:bodyPr/>
          <a:lstStyle/>
          <a:p>
            <a:r>
              <a:rPr lang="en-US" dirty="0"/>
              <a:t>Ignoring all the null values, Mean rating for each product is found.</a:t>
            </a:r>
          </a:p>
          <a:p>
            <a:r>
              <a:rPr lang="en-US" dirty="0"/>
              <a:t>Next created Price Ranges for all similar products.</a:t>
            </a:r>
          </a:p>
          <a:p>
            <a:r>
              <a:rPr lang="en-US" dirty="0"/>
              <a:t>Analyzed the ratings based on Price Range.</a:t>
            </a:r>
          </a:p>
          <a:p>
            <a:r>
              <a:rPr lang="en-US" dirty="0"/>
              <a:t>Concludes that Price is not affecting the Rating.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205" y="2840089"/>
            <a:ext cx="3553321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20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B48A9-686B-4060-8D38-7418E374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559678"/>
            <a:ext cx="9382461" cy="4952492"/>
          </a:xfrm>
        </p:spPr>
        <p:txBody>
          <a:bodyPr/>
          <a:lstStyle/>
          <a:p>
            <a:pPr algn="l"/>
            <a:r>
              <a:rPr lang="en-US" dirty="0"/>
              <a:t>Plot for Make vs Ratings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F1D31B8D-CE9A-4D96-BACF-7B1F5B9D4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723" y="2949179"/>
            <a:ext cx="6248398" cy="5655156"/>
          </a:xfrm>
        </p:spPr>
        <p:txBody>
          <a:bodyPr/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This is the plot for Make vs Avg. Ratings.</a:t>
            </a:r>
          </a:p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Mean of all the ratings and the number of ratings are considered in this plot.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AF83586-A97A-45CE-8738-25D7BC1F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03" y="2116149"/>
            <a:ext cx="4763585" cy="392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E212883E-84C3-42AD-B34A-4D249825156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xmlns="" id="{DC5B7347-E281-4E2C-A95E-6A4A2631560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6" name="Straight Connector 15" title="Horizontal Rule Line">
            <a:extLst>
              <a:ext uri="{FF2B5EF4-FFF2-40B4-BE49-F238E27FC236}">
                <a16:creationId xmlns:a16="http://schemas.microsoft.com/office/drawing/2014/main" xmlns="" id="{25A28D78-0305-4DA2-A78C-EF9ADD36631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7543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5" y="777072"/>
            <a:ext cx="6915663" cy="4996566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872618" y="663373"/>
            <a:ext cx="3684644" cy="160848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Statistical Analytics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872618" y="2422689"/>
            <a:ext cx="3684644" cy="379184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Over the time from 2003 to 2014 the lower quartile blue line started increasing steadily which is a good sign.</a:t>
            </a:r>
          </a:p>
          <a:p>
            <a:r>
              <a:rPr lang="en-US" dirty="0"/>
              <a:t>This means in 2003, </a:t>
            </a:r>
            <a:r>
              <a:rPr lang="en-US" dirty="0" err="1"/>
              <a:t>atleast</a:t>
            </a:r>
            <a:r>
              <a:rPr lang="en-US" dirty="0"/>
              <a:t> 25% of the customer ratings is 1 (least) where as in 2014 it is 3.</a:t>
            </a:r>
          </a:p>
          <a:p>
            <a:r>
              <a:rPr lang="en-US" dirty="0"/>
              <a:t>BEST YEAR: 2012 can be considered as the best year, because the lower quartile point is at 4.0 which means </a:t>
            </a:r>
            <a:r>
              <a:rPr lang="en-US" dirty="0" err="1"/>
              <a:t>atleast</a:t>
            </a:r>
            <a:r>
              <a:rPr lang="en-US" dirty="0"/>
              <a:t> 75% of the customers rated 4 or more. Since, the median and the upper quartile is at 5, it can be concluded that more than 50% of the customers rated 5 for SONY mobiles.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8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F4CF9A01-C2DD-4966-B31A-D2D87CB4CC6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 title="Page Number Shape">
            <a:extLst>
              <a:ext uri="{FF2B5EF4-FFF2-40B4-BE49-F238E27FC236}">
                <a16:creationId xmlns:a16="http://schemas.microsoft.com/office/drawing/2014/main" xmlns="" id="{7F3F28AE-09C6-438F-B1F8-6B3D763F93A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3" name="Straight Connector 12" title="Horizontal Rule Line">
            <a:extLst>
              <a:ext uri="{FF2B5EF4-FFF2-40B4-BE49-F238E27FC236}">
                <a16:creationId xmlns:a16="http://schemas.microsoft.com/office/drawing/2014/main" xmlns="" id="{0AC6CA7B-A97D-4EE7-BEEF-3794C969426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608076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359324"/>
            <a:ext cx="5462001" cy="38097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54" y="2422688"/>
            <a:ext cx="5128880" cy="3801533"/>
          </a:xfrm>
        </p:spPr>
        <p:txBody>
          <a:bodyPr>
            <a:normAutofit/>
          </a:bodyPr>
          <a:lstStyle/>
          <a:p>
            <a:r>
              <a:rPr lang="en-US" dirty="0" smtClean="0"/>
              <a:t>Most </a:t>
            </a:r>
            <a:r>
              <a:rPr lang="en-US" dirty="0"/>
              <a:t>of the customers are giving 5 rating.</a:t>
            </a:r>
          </a:p>
          <a:p>
            <a:r>
              <a:rPr lang="en-US" dirty="0"/>
              <a:t>In the rest, </a:t>
            </a:r>
            <a:r>
              <a:rPr lang="en-US" dirty="0" smtClean="0"/>
              <a:t>majority </a:t>
            </a:r>
            <a:r>
              <a:rPr lang="en-US" dirty="0"/>
              <a:t>of them are giving 1.</a:t>
            </a:r>
          </a:p>
          <a:p>
            <a:r>
              <a:rPr lang="en-US" dirty="0"/>
              <a:t>This shows the human tendency which is, most of the people who are just satisfied with the phone will not tend to give the rating. Only those who like it a lot will give 5, or the people who really don't like it will give 1.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19654" y="643465"/>
            <a:ext cx="5128880" cy="162839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</a:t>
            </a:r>
            <a:r>
              <a:rPr lang="en-US" dirty="0" smtClean="0"/>
              <a:t>Statistical</a:t>
            </a:r>
            <a:r>
              <a:rPr lang="en-US" dirty="0" smtClean="0"/>
              <a:t> </a:t>
            </a:r>
            <a:r>
              <a:rPr lang="en-US" dirty="0"/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34" y="5380580"/>
            <a:ext cx="6241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shows the PDF for Samsung, Sony, Apple, Motorola, HTC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2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7230932" cy="1408971"/>
          </a:xfrm>
        </p:spPr>
        <p:txBody>
          <a:bodyPr>
            <a:normAutofit/>
          </a:bodyPr>
          <a:lstStyle/>
          <a:p>
            <a:r>
              <a:rPr lang="en-US" dirty="0" smtClean="0"/>
              <a:t>Text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68648"/>
            <a:ext cx="10667998" cy="425557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Formation of </a:t>
            </a:r>
            <a:r>
              <a:rPr lang="en-US" dirty="0" err="1" smtClean="0"/>
              <a:t>WordClouds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Classifying reviews as Positive and Negative using Naïve Bayes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Classification using Multinomial Naïve Bayes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Creating a recommender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56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8B3850-4E52-4D13-BF68-196C1F33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WordClouds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3AE815E-98FC-4B5A-8062-C1DDE8E89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3392" y="1967560"/>
                <a:ext cx="9341223" cy="5655156"/>
              </a:xfrm>
            </p:spPr>
            <p:txBody>
              <a:bodyPr/>
              <a:lstStyle/>
              <a:p>
                <a:r>
                  <a:rPr lang="en-US" dirty="0"/>
                  <a:t>Wordcloud is one of the most insightful visualization methods to get the gist of the text data in one glance.</a:t>
                </a:r>
              </a:p>
              <a:p>
                <a:r>
                  <a:rPr lang="en-US" dirty="0"/>
                  <a:t>Wordclouds are the images of words randomly scattered throughout the image in different sizes.</a:t>
                </a:r>
              </a:p>
              <a:p>
                <a:r>
                  <a:rPr lang="en-US" dirty="0"/>
                  <a:t>In a wordcloud image, the size of the word is directly proportional to the frequency of the word in the text data.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𝑆𝐼𝑍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𝐹𝑅𝐸𝑄𝑈𝐸𝑁𝐶𝑌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AE815E-98FC-4B5A-8062-C1DDE8E89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3392" y="1967560"/>
                <a:ext cx="9341223" cy="5655156"/>
              </a:xfrm>
              <a:blipFill rotWithShape="0">
                <a:blip r:embed="rId2"/>
                <a:stretch>
                  <a:fillRect l="-587" t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03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9E82D4-2CCB-4A7A-BF74-9F097683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559678"/>
            <a:ext cx="8037755" cy="4952492"/>
          </a:xfrm>
        </p:spPr>
        <p:txBody>
          <a:bodyPr/>
          <a:lstStyle/>
          <a:p>
            <a:r>
              <a:rPr lang="en-US" dirty="0"/>
              <a:t>WordClouds at Make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3BFDA2-9F5A-445C-8EAA-F10ADF22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4712" y="3462873"/>
            <a:ext cx="6248398" cy="5655156"/>
          </a:xfrm>
        </p:spPr>
        <p:txBody>
          <a:bodyPr/>
          <a:lstStyle/>
          <a:p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WORDCLOUD for the make ‘APPLE</a:t>
            </a:r>
            <a:r>
              <a:rPr lang="en-US" b="1" dirty="0" smtClean="0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endParaRPr 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B6FA2D4-EB43-4F9A-8AAD-1D0EF41F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42" y="2009528"/>
            <a:ext cx="5849627" cy="385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89825A-DFA5-4601-B838-44599C71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559678"/>
            <a:ext cx="10296861" cy="860331"/>
          </a:xfrm>
        </p:spPr>
        <p:txBody>
          <a:bodyPr/>
          <a:lstStyle/>
          <a:p>
            <a:pPr algn="l"/>
            <a:r>
              <a:rPr lang="en-US" dirty="0"/>
              <a:t>When WordCloud gets FANCY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EA1768-8799-4764-91AC-9902DD3C0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13948"/>
            <a:ext cx="10296860" cy="5655156"/>
          </a:xfrm>
        </p:spPr>
        <p:txBody>
          <a:bodyPr/>
          <a:lstStyle/>
          <a:p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FANCY WORDCLOUD FOR THE MAKE ‘APPLE’</a:t>
            </a:r>
          </a:p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Picture showing the wordcloud masked in the form of Apple logo along with the colors.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77C18BA-A811-414C-BE10-C6C1ACC71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187" y="3386720"/>
            <a:ext cx="3128182" cy="2745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F24D262-615C-41D4-8D28-B73831B0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369" y="3386720"/>
            <a:ext cx="2535612" cy="27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6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10920806" cy="688209"/>
          </a:xfrm>
        </p:spPr>
        <p:txBody>
          <a:bodyPr>
            <a:noAutofit/>
          </a:bodyPr>
          <a:lstStyle/>
          <a:p>
            <a:pPr algn="l"/>
            <a:r>
              <a:rPr lang="en-US" sz="4400" dirty="0" smtClean="0"/>
              <a:t>Converting abbreviations </a:t>
            </a:r>
            <a:r>
              <a:rPr lang="en-US" sz="4400" dirty="0"/>
              <a:t>to </a:t>
            </a:r>
            <a:r>
              <a:rPr lang="en-US" sz="4400" dirty="0" smtClean="0"/>
              <a:t>full words 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2464" y="1546668"/>
            <a:ext cx="9512300" cy="2210166"/>
          </a:xfrm>
        </p:spPr>
        <p:txBody>
          <a:bodyPr/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It is necessary to convert the slang words/abbreviations like luv, haven’t, didn’t etc. to full words so that the classifier can detect the content accurately.</a:t>
            </a:r>
          </a:p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Here is the sample: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464" y="3213822"/>
            <a:ext cx="9512300" cy="209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438" y="5309322"/>
            <a:ext cx="34036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10667998" cy="4952492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Classification of Reviews to Positive/Negative/Neutral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99708"/>
            <a:ext cx="10667998" cy="142001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reviews are classified based on the content of each review.</a:t>
            </a:r>
          </a:p>
          <a:p>
            <a:r>
              <a:rPr 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This is achieved based polarity and subjectivity of text which is decided by NaïveBayesClassifier.</a:t>
            </a:r>
          </a:p>
          <a:p>
            <a:r>
              <a:rPr 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NaïveBayesClassifier is trained with set of positive, negative and neutral words.</a:t>
            </a:r>
          </a:p>
        </p:txBody>
      </p:sp>
    </p:spTree>
    <p:extLst>
      <p:ext uri="{BB962C8B-B14F-4D97-AF65-F5344CB8AC3E}">
        <p14:creationId xmlns:p14="http://schemas.microsoft.com/office/powerpoint/2010/main" val="766597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6021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Analysis on “Tag” for Laptops Dataset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298" y="146611"/>
            <a:ext cx="4608515" cy="2953778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93376"/>
            <a:ext cx="4548090" cy="3164412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298" y="3463963"/>
            <a:ext cx="4578622" cy="29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2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10667998" cy="4952492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Implementation of Multinomial Naïve Bayes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99708"/>
            <a:ext cx="10667998" cy="304441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We used Multinomial Naïve Bayes to build a classifier based on the text.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Two categories ‘Good’ and ‘Bad’ are created based on the ratings of the product.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Using these two categories as labels a classifier is built with respect to the words in the text.</a:t>
            </a:r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This classifier is trained with over a hundred thousand records of text reviews.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What can this Classifier do?</a:t>
            </a:r>
          </a:p>
          <a:p>
            <a:pPr lvl="3"/>
            <a:r>
              <a:rPr lang="en-US" sz="1600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When a new review is sent to it, the reviews gets classified as Good or Bad.</a:t>
            </a:r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005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720763"/>
            <a:ext cx="6356807" cy="4691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85000"/>
              </a:lnSpc>
            </a:pPr>
            <a:r>
              <a:rPr lang="en-US" sz="3100" cap="all" dirty="0">
                <a:solidFill>
                  <a:schemeClr val="tx2"/>
                </a:solidFill>
              </a:rPr>
              <a:t>Implementation of Multinomial Naïve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1600" y="1947134"/>
            <a:ext cx="49636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This confusion matrix is for the classifier with two labels (Good and Bad)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overall accuracy is 86.5%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`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7" y="1561494"/>
            <a:ext cx="44577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:a16="http://schemas.microsoft.com/office/drawing/2014/main" xmlns="" id="{49EC5C96-A5B7-48AF-865B-32EA92606F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1" name="Straight Connector 10" title="Verticle Rule Line">
            <a:extLst>
              <a:ext uri="{FF2B5EF4-FFF2-40B4-BE49-F238E27FC236}">
                <a16:creationId xmlns:a16="http://schemas.microsoft.com/office/drawing/2014/main" xmlns="" id="{87D3361C-8AD4-4C09-8E01-4332488617A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 title="Page Number Shape">
            <a:extLst>
              <a:ext uri="{FF2B5EF4-FFF2-40B4-BE49-F238E27FC236}">
                <a16:creationId xmlns:a16="http://schemas.microsoft.com/office/drawing/2014/main" xmlns="" id="{3AAA0759-ECD6-443A-BFFC-D53590EDA7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5" name="Straight Connector 14" title="Verticle Rule Line">
            <a:extLst>
              <a:ext uri="{FF2B5EF4-FFF2-40B4-BE49-F238E27FC236}">
                <a16:creationId xmlns:a16="http://schemas.microsoft.com/office/drawing/2014/main" xmlns="" id="{1819C287-249A-484B-85C4-1D1C1845FE6C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96" y="1534537"/>
            <a:ext cx="4958438" cy="42816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9998" y="1143293"/>
            <a:ext cx="4808409" cy="4268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85000"/>
              </a:lnSpc>
            </a:pPr>
            <a:r>
              <a:rPr lang="en-US" sz="3100" cap="all" dirty="0">
                <a:solidFill>
                  <a:schemeClr val="tx2"/>
                </a:solidFill>
              </a:rPr>
              <a:t>Implementation of Multinomial Naïve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0347" y="2571078"/>
            <a:ext cx="49636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This confusion matrix is for the classifier with three labels (Good, Average, Bad)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As we can see here the average value prediction accuracy is less.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That is in turn effecting the overall accuracy which is 77.5%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91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9221096" cy="1086242"/>
          </a:xfrm>
        </p:spPr>
        <p:txBody>
          <a:bodyPr/>
          <a:lstStyle/>
          <a:p>
            <a:r>
              <a:rPr lang="en-US" dirty="0" smtClean="0"/>
              <a:t>Recommender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8645" y="1645920"/>
            <a:ext cx="10171353" cy="1850315"/>
          </a:xfrm>
        </p:spPr>
        <p:txBody>
          <a:bodyPr/>
          <a:lstStyle/>
          <a:p>
            <a:r>
              <a:rPr lang="en-US" dirty="0" smtClean="0"/>
              <a:t>Based on the Multinomial Naïve Bayes classifier created earlier we implemented a recommender system.</a:t>
            </a:r>
          </a:p>
          <a:p>
            <a:r>
              <a:rPr lang="en-US" dirty="0" smtClean="0"/>
              <a:t>This recommender system takes input of a feature and makes use of the classifier to recommend the product which has good reviews for the given feature.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48640" y="3808207"/>
            <a:ext cx="1678193" cy="1775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372802" y="3808207"/>
            <a:ext cx="1678193" cy="1775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ngrams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196964" y="3808207"/>
            <a:ext cx="1678193" cy="17750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Classifier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9021126" y="3453204"/>
            <a:ext cx="2408872" cy="2485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Recommendation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4" idx="6"/>
            <a:endCxn id="5" idx="2"/>
          </p:cNvCxnSpPr>
          <p:nvPr/>
        </p:nvCxnSpPr>
        <p:spPr>
          <a:xfrm>
            <a:off x="2226833" y="4695713"/>
            <a:ext cx="1145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6"/>
            <a:endCxn id="6" idx="2"/>
          </p:cNvCxnSpPr>
          <p:nvPr/>
        </p:nvCxnSpPr>
        <p:spPr>
          <a:xfrm>
            <a:off x="5050995" y="4695713"/>
            <a:ext cx="1145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6"/>
            <a:endCxn id="7" idx="2"/>
          </p:cNvCxnSpPr>
          <p:nvPr/>
        </p:nvCxnSpPr>
        <p:spPr>
          <a:xfrm>
            <a:off x="7875157" y="4695713"/>
            <a:ext cx="1145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6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10668000" cy="4952492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381378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</a:majorFont>
      <a:minorFont>
        <a:latin typeface="Corbel" panose="020B0503020204020204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Headlines</Template>
  <TotalTime>1093</TotalTime>
  <Words>910</Words>
  <Application>Microsoft Macintosh PowerPoint</Application>
  <PresentationFormat>Widescreen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Cambria Math</vt:lpstr>
      <vt:lpstr>Century Schoolbook</vt:lpstr>
      <vt:lpstr>Corbel</vt:lpstr>
      <vt:lpstr>Times New Roman</vt:lpstr>
      <vt:lpstr>Arial</vt:lpstr>
      <vt:lpstr>Headlines</vt:lpstr>
      <vt:lpstr>CORPUS</vt:lpstr>
      <vt:lpstr>About  the Dataset</vt:lpstr>
      <vt:lpstr>Data Cleaning</vt:lpstr>
      <vt:lpstr>Building a Complete Dataset</vt:lpstr>
      <vt:lpstr>Cleaning the Text Data by removing stopwords</vt:lpstr>
      <vt:lpstr>Analyzing the Ratings based on Price Range.</vt:lpstr>
      <vt:lpstr>Plot for Make vs Ratings </vt:lpstr>
      <vt:lpstr> Statistical Analytics</vt:lpstr>
      <vt:lpstr> Statistical Analytics</vt:lpstr>
      <vt:lpstr>Text Analytics</vt:lpstr>
      <vt:lpstr>WordClouds</vt:lpstr>
      <vt:lpstr>WordClouds at Make level</vt:lpstr>
      <vt:lpstr>When WordCloud gets FANCY</vt:lpstr>
      <vt:lpstr>Converting abbreviations to full words </vt:lpstr>
      <vt:lpstr>Classification of Reviews to Positive/Negative/Neutral</vt:lpstr>
      <vt:lpstr>Analysis on “Tag” for Laptops Dataset</vt:lpstr>
      <vt:lpstr>Implementation of Multinomial Naïve Bayes</vt:lpstr>
      <vt:lpstr>Implementation of Multinomial Naïve Bayes</vt:lpstr>
      <vt:lpstr>Implementation of Multinomial Naïve Bayes</vt:lpstr>
      <vt:lpstr>Recommender System</vt:lpstr>
      <vt:lpstr>   Thank You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CORPUS</dc:title>
  <dc:creator>Balaram Remala</dc:creator>
  <cp:lastModifiedBy>Balaram Remala</cp:lastModifiedBy>
  <cp:revision>26</cp:revision>
  <dcterms:created xsi:type="dcterms:W3CDTF">2017-09-20T03:48:44Z</dcterms:created>
  <dcterms:modified xsi:type="dcterms:W3CDTF">2017-12-01T20:19:17Z</dcterms:modified>
</cp:coreProperties>
</file>